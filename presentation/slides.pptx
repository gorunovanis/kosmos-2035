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2833"/>
                </a:solidFill>
              </a:defRPr>
            </a:pPr>
            <a:r>
              <a:t>Топливный космоконтур 2035: план S1 закрывает спрос и обязательный стресс</a:t>
            </a:r>
          </a:p>
          <a:p>
            <a:pPr>
              <a:defRPr sz="1300">
                <a:solidFill>
                  <a:srgbClr val="5F6B75"/>
                </a:solidFill>
              </a:defRPr>
            </a:pPr>
            <a:r>
              <a:t>Команда «Космоконтур» · Core + Flex + ZBO 2036 + опцион Earth-New (ввод 01.07.2037) · физический резерв 45 дней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828800"/>
                <a:gridCol w="1828800"/>
                <a:gridCol w="1828800"/>
                <a:gridCol w="1828800"/>
              </a:tblGrid>
              <a:tr h="320039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C2833"/>
                          </a:solidFill>
                        </a:defRPr>
                      </a:pPr>
                      <a:r>
                        <a:t>Показатель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C2833"/>
                          </a:solidFill>
                        </a:defRPr>
                      </a:pPr>
                      <a:r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C2833"/>
                          </a:solidFill>
                        </a:defRPr>
                      </a:pPr>
                      <a:r>
                        <a:t>Стресс без адаптации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C2833"/>
                          </a:solidFill>
                        </a:defRPr>
                      </a:pPr>
                      <a:r>
                        <a:t>Стресс, план подготовлен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C2833"/>
                          </a:solidFill>
                        </a:defRPr>
                      </a:pPr>
                      <a:r>
                        <a:t>Стресс, реакция с лагами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2833"/>
                          </a:solidFill>
                        </a:defRPr>
                      </a:pPr>
                      <a:r>
                        <a:t>Исполним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2833"/>
                          </a:solidFill>
                        </a:defRPr>
                      </a:pPr>
                      <a:r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2833"/>
                          </a:solidFill>
                        </a:defRPr>
                      </a:pPr>
                      <a:r>
                        <a:t>нет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2833"/>
                          </a:solidFill>
                        </a:defRPr>
                      </a:pPr>
                      <a:r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2833"/>
                          </a:solidFill>
                        </a:defRPr>
                      </a:pPr>
                      <a:r>
                        <a:t>да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2833"/>
                          </a:solidFill>
                        </a:defRPr>
                      </a:pPr>
                      <a:r>
                        <a:t>PV расходов 2035–2040, млн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2833"/>
                          </a:solidFill>
                        </a:defRPr>
                      </a:pPr>
                      <a:r>
                        <a:t>9 293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2833"/>
                          </a:solidFill>
                        </a:defRPr>
                      </a:pPr>
                      <a:r>
                        <a:t>9 720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2833"/>
                          </a:solidFill>
                        </a:defRPr>
                      </a:pPr>
                      <a:r>
                        <a:t>10 907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2833"/>
                          </a:solidFill>
                        </a:defRPr>
                      </a:pPr>
                      <a:r>
                        <a:t>11 126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2833"/>
                          </a:solidFill>
                        </a:defRPr>
                      </a:pPr>
                      <a:r>
                        <a:t>Дефицит, т (критический)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2833"/>
                          </a:solidFill>
                        </a:defRPr>
                      </a:pPr>
                      <a:r>
                        <a:t>0 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2833"/>
                          </a:solidFill>
                        </a:defRPr>
                      </a:pPr>
                      <a:r>
                        <a:t>95,9 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2833"/>
                          </a:solidFill>
                        </a:defRPr>
                      </a:pPr>
                      <a:r>
                        <a:t>0 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2833"/>
                          </a:solidFill>
                        </a:defRPr>
                      </a:pPr>
                      <a:r>
                        <a:t>0 (0)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2833"/>
                          </a:solidFill>
                        </a:defRPr>
                      </a:pPr>
                      <a:r>
                        <a:t>SL общий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2833"/>
                          </a:solidFill>
                        </a:defRPr>
                      </a:pPr>
                      <a:r>
                        <a:t>100 %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2833"/>
                          </a:solidFill>
                        </a:defRPr>
                      </a:pPr>
                      <a:r>
                        <a:t>87,0 %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2833"/>
                          </a:solidFill>
                        </a:defRPr>
                      </a:pPr>
                      <a:r>
                        <a:t>100 %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2833"/>
                          </a:solidFill>
                        </a:defRPr>
                      </a:pPr>
                      <a:r>
                        <a:t>100 %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2833"/>
                          </a:solidFill>
                        </a:defRPr>
                      </a:pPr>
                      <a:r>
                        <a:t>Стоимость тонны, млн/т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2833"/>
                          </a:solidFill>
                        </a:defRPr>
                      </a:pPr>
                      <a:r>
                        <a:t>8,15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2833"/>
                          </a:solidFill>
                        </a:defRPr>
                      </a:pPr>
                      <a:r>
                        <a:t>8,25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2833"/>
                          </a:solidFill>
                        </a:defRPr>
                      </a:pPr>
                      <a:r>
                        <a:t>8,75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2833"/>
                          </a:solidFill>
                        </a:defRPr>
                      </a:pPr>
                      <a:r>
                        <a:t>8,93</a:t>
                      </a: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2833"/>
                          </a:solidFill>
                        </a:defRPr>
                      </a:pPr>
                      <a:r>
                        <a:t>CAPEX накопленный, млн (лимит 1 800 / 2 800)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2833"/>
                          </a:solidFill>
                        </a:defRPr>
                      </a:pPr>
                      <a:r>
                        <a:t>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2833"/>
                          </a:solidFill>
                        </a:defRPr>
                      </a:pPr>
                      <a:r>
                        <a:t>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2833"/>
                          </a:solidFill>
                        </a:defRPr>
                      </a:pPr>
                      <a:r>
                        <a:t>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2833"/>
                          </a:solidFill>
                        </a:defRPr>
                      </a:pPr>
                      <a:r>
                        <a:t>540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7D4F"/>
                </a:solidFill>
              </a:defRPr>
            </a:pPr>
            <a:r>
              <a:t>Вывод: цена защиты от стресса 1 614 млн PV, цена запоздалой реакции ещё 219 млн; критический спрос обслужен на 100 % во всех прогонах.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B75"/>
                </a:solidFill>
              </a:defRPr>
            </a:pPr>
            <a:r>
              <a:t>Млн условных единиц в постоянных ценах 2035, реальная ставка 7 % (TEAM_ASSUMPTION A4). Все числа из results/ (хэш в meta.json). SL — доля обслуженного спроса за год.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2833"/>
                </a:solidFill>
              </a:defRPr>
            </a:pPr>
            <a:r>
              <a:t>Путь оператора: изменил решение → пересчёт → нарушение с причиной → сравнил → сохранил → выгрузил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C2833"/>
                </a:solidFill>
              </a:defRPr>
            </a:pPr>
            <a:r>
              <a:t>1. План и контракты: резервы и отборы по годам, особые заказы с окнами и датами решений, инвестиции с датами.</a:t>
            </a:r>
          </a:p>
          <a:p>
            <a:pPr>
              <a:spcAft>
                <a:spcPts val="400"/>
              </a:spcAft>
              <a:defRPr sz="1300">
                <a:solidFill>
                  <a:srgbClr val="1C2833"/>
                </a:solidFill>
              </a:defRPr>
            </a:pPr>
            <a:r>
              <a:t>2. Пересчёт сразу: дневной баланс 2034–2040, платежи, все проверки.</a:t>
            </a:r>
          </a:p>
          <a:p>
            <a:pPr>
              <a:spcAft>
                <a:spcPts val="400"/>
              </a:spcAft>
              <a:defRPr sz="1300">
                <a:solidFill>
                  <a:srgbClr val="1C2833"/>
                </a:solidFill>
              </a:defRPr>
            </a:pPr>
            <a:r>
              <a:t>3. Проверки и нарушения: правило · период · факт · порог · запас · статус словами, рычаг для каждого правила.</a:t>
            </a:r>
          </a:p>
          <a:p>
            <a:pPr>
              <a:spcAft>
                <a:spcPts val="400"/>
              </a:spcAft>
              <a:defRPr sz="1300">
                <a:solidFill>
                  <a:srgbClr val="1C2833"/>
                </a:solidFill>
              </a:defRPr>
            </a:pPr>
            <a:r>
              <a:t>4. Сценарии и сравнение: BASE, стресс, low/high, стратегии S0–S3, цена защиты.</a:t>
            </a:r>
          </a:p>
          <a:p>
            <a:pPr>
              <a:spcAft>
                <a:spcPts val="400"/>
              </a:spcAft>
              <a:defRPr sz="1300">
                <a:solidFill>
                  <a:srgbClr val="1C2833"/>
                </a:solidFill>
              </a:defRPr>
            </a:pPr>
            <a:r>
              <a:t>5. Чувствительность, риски, геополитика — тем же ядром.</a:t>
            </a:r>
          </a:p>
          <a:p>
            <a:pPr>
              <a:spcAft>
                <a:spcPts val="400"/>
              </a:spcAft>
              <a:defRPr sz="1300">
                <a:solidFill>
                  <a:srgbClr val="1C2833"/>
                </a:solidFill>
              </a:defRPr>
            </a:pPr>
            <a:r>
              <a:t>6. Сохранение плана (JSON по схеме организатора) и выгрузка CSV/XLSX с листом meta и хэшем чисел.</a:t>
            </a:r>
          </a:p>
          <a:p>
            <a:pPr>
              <a:spcAft>
                <a:spcPts val="400"/>
              </a:spcAft>
              <a:defRPr sz="1300">
                <a:solidFill>
                  <a:srgbClr val="1C2833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C2833"/>
                </a:solidFill>
              </a:defRPr>
            </a:pPr>
            <a:r>
              <a:t>Демо: снять опцион Earth-New → 15 нарушений (SOURCE_NOT_AVAILABLE 2037–2040, RESERVE_45D с 2038, общий сервис 75 % в 2038 и 67 % в 2040) → вернуть → переключить стресс → RESERVE_45D 2039: 1,95 против 45,37 т.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2801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5F6B75"/>
                </a:solidFill>
              </a:defRPr>
            </a:pPr>
            <a:r>
              <a:t>Один расчётный контур для экрана, CLI, тестов и выгрузок:</a:t>
            </a:r>
          </a:p>
          <a:p>
            <a:pPr>
              <a:spcAft>
                <a:spcPts val="400"/>
              </a:spcAft>
              <a:defRPr sz="1200">
                <a:solidFill>
                  <a:srgbClr val="5F6B75"/>
                </a:solidFill>
              </a:defRPr>
            </a:pPr>
            <a:r>
              <a:t>python -m streamlit run app/streamlit_app.py</a:t>
            </a:r>
          </a:p>
          <a:p>
            <a:pPr>
              <a:spcAft>
                <a:spcPts val="400"/>
              </a:spcAft>
              <a:defRPr sz="1200">
                <a:solidFill>
                  <a:srgbClr val="5F6B75"/>
                </a:solidFill>
              </a:defRPr>
            </a:pPr>
            <a:r>
              <a:t>python run.py run --plan configs/plans/S1_new24.json --scenario MANDATORY_STRESS</a:t>
            </a:r>
          </a:p>
          <a:p>
            <a:pPr>
              <a:spcAft>
                <a:spcPts val="400"/>
              </a:spcAft>
              <a:defRPr sz="1200">
                <a:solidFill>
                  <a:srgbClr val="5F6B75"/>
                </a:solidFill>
              </a:defRPr>
            </a:pPr>
            <a:r>
              <a:t>python -m pytest -q  (27 тестов)</a:t>
            </a:r>
          </a:p>
          <a:p>
            <a:pPr>
              <a:spcAft>
                <a:spcPts val="400"/>
              </a:spcAft>
              <a:defRPr sz="1200">
                <a:solidFill>
                  <a:srgbClr val="5F6B75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5F6B75"/>
                </a:solidFill>
              </a:defRPr>
            </a:pPr>
            <a:r>
              <a:t>Интерфейс: 10 страниц Streamlit, без облачных скриптов и ключей, запуск за минуту.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7D4F"/>
                </a:solidFill>
              </a:defRPr>
            </a:pPr>
            <a:r>
              <a:t>Вывод: эксперт меняет любое решение без кода и видит численное нарушение с годом, величиной и причиной.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B75"/>
                </a:solidFill>
              </a:defRPr>
            </a:pPr>
            <a:r>
              <a:t>Маршрут проверки из 13 шагов — README. Ошибки ввода: INVALID_INPUT, NEGATIVE_VALUE, UNKNOWN_SOURCE с указанием поля.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2833"/>
                </a:solidFill>
              </a:defRPr>
            </a:pPr>
            <a:r>
              <a:t>Вилки кейса в числах: третий канал, ZBO, лимит CAPEX</a:t>
            </a:r>
          </a:p>
        </p:txBody>
      </p:sp>
      <p:pic>
        <p:nvPicPr>
          <p:cNvPr id="3" name="Picture 2" descr="supp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035040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75120" y="11887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2833"/>
                </a:solidFill>
              </a:defRPr>
            </a:pPr>
            <a:r>
              <a:t>Core + Flex = 300 т/год против спроса 390 т в 2040 и 448,5 т в стрессе: без третьего канала последние годы держатся только на запасе или на Emergency по 13,8 млн/т.</a:t>
            </a:r>
          </a:p>
          <a:p>
            <a:pPr>
              <a:spcAft>
                <a:spcPts val="400"/>
              </a:spcAft>
              <a:defRPr sz="1200">
                <a:solidFill>
                  <a:srgbClr val="1C2833"/>
                </a:solidFill>
              </a:defRPr>
            </a:pPr>
            <a:r>
              <a:t>Потолок потерь 2 % с 2038 в стрессе при 4,5 % у базового хранилища: ZBO обязателен до 2038.</a:t>
            </a:r>
          </a:p>
          <a:p>
            <a:pPr>
              <a:spcAft>
                <a:spcPts val="400"/>
              </a:spcAft>
              <a:defRPr sz="1200">
                <a:solidFill>
                  <a:srgbClr val="1C2833"/>
                </a:solidFill>
              </a:defRPr>
            </a:pPr>
            <a:r>
              <a:t>ZBO 180 + Earth-New 360 + ISRU 1 250 = 1 790 при лимите 1 800 до конца 2037: выбор, а не «взять всё».</a:t>
            </a:r>
          </a:p>
          <a:p>
            <a:pPr>
              <a:spcAft>
                <a:spcPts val="400"/>
              </a:spcAft>
              <a:defRPr sz="1200">
                <a:solidFill>
                  <a:srgbClr val="1C2833"/>
                </a:solidFill>
              </a:defRPr>
            </a:pPr>
            <a:r>
              <a:t>Emergency едет 6 недель = 42 дня из 45: резерв де-факто физический.</a:t>
            </a:r>
          </a:p>
          <a:p>
            <a:pPr>
              <a:spcAft>
                <a:spcPts val="400"/>
              </a:spcAft>
              <a:defRPr sz="1200">
                <a:solidFill>
                  <a:srgbClr val="1C2833"/>
                </a:solidFill>
              </a:defRPr>
            </a:pPr>
            <a:r>
              <a:t>Поставки 2035 заказаны в 2034 (Core 12 месяцев): подготовительный период с запасом 12,4 т и расходами 118,1 млн в 2035.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7D4F"/>
                </a:solidFill>
              </a:defRPr>
            </a:pPr>
            <a:r>
              <a:t>Вывод: вопрос кейса не «инвестировать или нет», а «сколько стоит запас прочности и кто его оплачивает».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B75"/>
                </a:solidFill>
              </a:defRPr>
            </a:pPr>
            <a:r>
              <a:t>Данные организатора: demand.csv, supply_sources.csv, storage_options.csv, investment_options.csv, constraints.csv, mandatory_stress.yaml — без правок.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2833"/>
                </a:solidFill>
              </a:defRPr>
            </a:pPr>
            <a:r>
              <a:t>Ядро: дневной баланс с явными формулами и разбор одной строки руками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760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C2833"/>
                </a:solidFill>
              </a:defRPr>
            </a:pPr>
            <a:r>
              <a:t>Запас на конец дня = запас на начало + поставка − потери − выдача</a:t>
            </a:r>
          </a:p>
          <a:p>
            <a:pPr>
              <a:spcAft>
                <a:spcPts val="400"/>
              </a:spcAft>
              <a:defRPr sz="1300">
                <a:solidFill>
                  <a:srgbClr val="1C2833"/>
                </a:solidFill>
              </a:defRPr>
            </a:pPr>
            <a:r>
              <a:t>Потери = валовое поступление × 4,5 % (база) или 1,2 % (ZBO)</a:t>
            </a:r>
          </a:p>
          <a:p>
            <a:pPr>
              <a:spcAft>
                <a:spcPts val="400"/>
              </a:spcAft>
              <a:defRPr sz="1300">
                <a:solidFill>
                  <a:srgbClr val="1C2833"/>
                </a:solidFill>
              </a:defRPr>
            </a:pPr>
            <a:r>
              <a:t>Выдача: сначала критический спрос дня, затем остальной; дефицит отдельно, запас не ниже нуля</a:t>
            </a:r>
          </a:p>
          <a:p>
            <a:pPr>
              <a:spcAft>
                <a:spcPts val="400"/>
              </a:spcAft>
              <a:defRPr sz="1300">
                <a:solidFill>
                  <a:srgbClr val="1C2833"/>
                </a:solidFill>
              </a:defRPr>
            </a:pPr>
            <a:r>
              <a:t>Резерв на 1 января: R = D × 45/365 от спроса сценария</a:t>
            </a:r>
          </a:p>
          <a:p>
            <a:pPr>
              <a:spcAft>
                <a:spcPts val="400"/>
              </a:spcAft>
              <a:defRPr sz="1300">
                <a:solidFill>
                  <a:srgbClr val="1C2833"/>
                </a:solidFill>
              </a:defRPr>
            </a:pPr>
            <a:r>
              <a:t>Закупка = цена × max(отбор, TOP × резерв периода); резерв = тариф × резерв × доля года</a:t>
            </a:r>
          </a:p>
          <a:p>
            <a:pPr>
              <a:spcAft>
                <a:spcPts val="400"/>
              </a:spcAft>
              <a:defRPr sz="1300">
                <a:solidFill>
                  <a:srgbClr val="1C2833"/>
                </a:solidFill>
              </a:defRPr>
            </a:pPr>
            <a:r>
              <a:t>Хранение = 0,72 × средний дневной запас; OPEX с даты ввода; CAPEX по датам</a:t>
            </a:r>
          </a:p>
          <a:p>
            <a:pPr>
              <a:spcAft>
                <a:spcPts val="400"/>
              </a:spcAft>
              <a:defRPr sz="1300">
                <a:solidFill>
                  <a:srgbClr val="1C2833"/>
                </a:solidFill>
              </a:defRPr>
            </a:pPr>
            <a:r>
              <a:t>PV = CF / (1 + 0,07)^(год − 2035)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188720"/>
          <a:ext cx="53949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46304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C2833"/>
                          </a:solidFill>
                        </a:defRPr>
                      </a:pPr>
                      <a:r>
                        <a:t>2037, 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C2833"/>
                          </a:solidFill>
                        </a:defRPr>
                      </a:pPr>
                      <a:r>
                        <a:t>т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2833"/>
                          </a:solidFill>
                        </a:defRPr>
                      </a:pPr>
                      <a:r>
                        <a:t>Запас на 1 января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2833"/>
                          </a:solidFill>
                        </a:defRPr>
                      </a:pPr>
                      <a:r>
                        <a:t>30,819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2833"/>
                          </a:solidFill>
                        </a:defRPr>
                      </a:pPr>
                      <a:r>
                        <a:t>+ доставлено (Core 159,544 + Earth-New 32,767)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2833"/>
                          </a:solidFill>
                        </a:defRPr>
                      </a:pPr>
                      <a:r>
                        <a:t>192,311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2833"/>
                          </a:solidFill>
                        </a:defRPr>
                      </a:pPr>
                      <a:r>
                        <a:t>− потери 1,2 %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2833"/>
                          </a:solidFill>
                        </a:defRPr>
                      </a:pPr>
                      <a:r>
                        <a:t>2,308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2833"/>
                          </a:solidFill>
                        </a:defRPr>
                      </a:pPr>
                      <a:r>
                        <a:t>− выдано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2833"/>
                          </a:solidFill>
                        </a:defRPr>
                      </a:pPr>
                      <a:r>
                        <a:t>190,0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2833"/>
                          </a:solidFill>
                        </a:defRPr>
                      </a:pPr>
                      <a:r>
                        <a:t>= запас на конец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2833"/>
                          </a:solidFill>
                        </a:defRPr>
                      </a:pPr>
                      <a:r>
                        <a:t>30,822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2833"/>
                          </a:solidFill>
                        </a:defRPr>
                      </a:pPr>
                      <a:r>
                        <a:t>Закупка Core 6,2 × max(159,544; 0,7 × 190), млн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2833"/>
                          </a:solidFill>
                        </a:defRPr>
                      </a:pPr>
                      <a:r>
                        <a:t>989,17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2833"/>
                          </a:solidFill>
                        </a:defRPr>
                      </a:pPr>
                      <a:r>
                        <a:t>Резерв Core 0,45 × 190, млн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2833"/>
                          </a:solidFill>
                        </a:defRPr>
                      </a:pPr>
                      <a:r>
                        <a:t>85,50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7D4F"/>
                </a:solidFill>
              </a:defRPr>
            </a:pPr>
            <a:r>
              <a:t>Вывод: числа ядра совпадают с независимым расчётом (внешний код) и с формулами Excel до шестого знака.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B75"/>
                </a:solidFill>
              </a:defRPr>
            </a:pPr>
            <a:r>
              <a:t>docs/architecture.md (входы, выходы, формулы, источник метода, проверка по блокам); docs/control_example.xlsx; tests/test_s1_control.py.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2833"/>
                </a:solidFill>
              </a:defRPr>
            </a:pPr>
            <a:r>
              <a:t>Ограничение · факт · порог · запас · статус (план S1)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21615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188720"/>
                <a:gridCol w="1280160"/>
                <a:gridCol w="1097280"/>
                <a:gridCol w="1737360"/>
                <a:gridCol w="1280160"/>
                <a:gridCol w="1645920"/>
                <a:gridCol w="109728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2833"/>
                          </a:solidFill>
                        </a:defRPr>
                      </a:pPr>
                      <a:r>
                        <a:t>Правило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2833"/>
                          </a:solidFill>
                        </a:defRPr>
                      </a:pPr>
                      <a:r>
                        <a:t>Порог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2833"/>
                          </a:solidFill>
                        </a:defRPr>
                      </a:pPr>
                      <a:r>
                        <a:t>BASE: факт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2833"/>
                          </a:solidFill>
                        </a:defRPr>
                      </a:pPr>
                      <a:r>
                        <a:t>Статус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2833"/>
                          </a:solidFill>
                        </a:defRPr>
                      </a:pPr>
                      <a:r>
                        <a:t>Стресс без адаптации: факт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2833"/>
                          </a:solidFill>
                        </a:defRPr>
                      </a:pPr>
                      <a:r>
                        <a:t>Статус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2833"/>
                          </a:solidFill>
                        </a:defRPr>
                      </a:pPr>
                      <a:r>
                        <a:t>Стресс подготовлен: факт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2833"/>
                          </a:solidFill>
                        </a:defRPr>
                      </a:pPr>
                      <a:r>
                        <a:t>Статус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SL общий, min по годам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≥ 0,97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0,870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FAIL (ориентир)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SL критический,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≥ 0,99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Резерв 45 дн на 01.01.2039, 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≥ 45,4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39,5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1,95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45,4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CAPEX до конца 2037, млн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≤ 1 800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CAPEX до 2040, млн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≤ 2 800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Потери/оборот 2038–2040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≤ 0,02 (стресс)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0,012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0,012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0,012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Emergency как база, лет подряд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≤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Мощность, резерв, ёмкость, сроки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по каналам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0 нарушений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0 нарушений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0 нарушений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7D4F"/>
                </a:solidFill>
              </a:defRPr>
            </a:pPr>
            <a:r>
              <a:t>Вывод: в стрессе тот же план ломается ровно там, где кейс и обещал: резерв и общий сервис 2039–2040; критический спрос не страдает.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B75"/>
                </a:solidFill>
              </a:defRPr>
            </a:pPr>
            <a:r>
              <a:t>Полная таблица всех правил по годам — results/*/constraint_checks.csv и страница «Проверки и нарушения».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2833"/>
                </a:solidFill>
              </a:defRPr>
            </a:pPr>
            <a:r>
              <a:t>Четыре стратегии на одной базе и цена защиты</a:t>
            </a:r>
          </a:p>
        </p:txBody>
      </p:sp>
      <p:pic>
        <p:nvPicPr>
          <p:cNvPr id="3" name="Picture 2" descr="strate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852160" cy="310896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92240" y="1188720"/>
          <a:ext cx="54864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731520"/>
                <a:gridCol w="822960"/>
                <a:gridCol w="1005840"/>
                <a:gridCol w="822960"/>
              </a:tblGrid>
              <a:tr h="3200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2833"/>
                          </a:solidFill>
                        </a:defRPr>
                      </a:pPr>
                      <a:r>
                        <a:t>Стратегия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2833"/>
                          </a:solidFill>
                        </a:defRPr>
                      </a:pPr>
                      <a:r>
                        <a:t>CAPEX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2833"/>
                          </a:solidFill>
                        </a:defRPr>
                      </a:pPr>
                      <a:r>
                        <a:t>PV 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2833"/>
                          </a:solidFill>
                        </a:defRPr>
                      </a:pPr>
                      <a:r>
                        <a:t>PV стресс (подг.)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2833"/>
                          </a:solidFill>
                        </a:defRPr>
                      </a:pPr>
                      <a:r>
                        <a:t>Цена защиты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S0 Core+Flex+ZBO+Emergency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9 733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11 894 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2 162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S0min без резерва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9 112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10 274 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1 162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S1 Earth-New 24 мес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9 293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10 907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1 614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S1 + запас 10 %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9 329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10 950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1 621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S2 Lunar-ISRU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1 430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8 998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11 378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2 380</a:t>
                      </a: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S3 New + ISRU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1 790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9 631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11 134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1 503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92240" y="365760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C2833"/>
                </a:solidFill>
              </a:defRPr>
            </a:pPr>
            <a:r>
              <a:t>S2 дешевле S1 в базе на 295 млн, но дороже в стрессе на 470 млн и требует CAPEX 1 430 до 2038.</a:t>
            </a:r>
          </a:p>
          <a:p>
            <a:pPr>
              <a:spcAft>
                <a:spcPts val="400"/>
              </a:spcAft>
              <a:defRPr sz="1100">
                <a:solidFill>
                  <a:srgbClr val="1C2833"/>
                </a:solidFill>
              </a:defRPr>
            </a:pPr>
            <a:r>
              <a:t>S0 не закрывает стресс даже при подготовке: нужный запас 128 т не помещается в 120 т.</a:t>
            </a:r>
          </a:p>
          <a:p>
            <a:pPr>
              <a:spcAft>
                <a:spcPts val="400"/>
              </a:spcAft>
              <a:defRPr sz="1100">
                <a:solidFill>
                  <a:srgbClr val="1C2833"/>
                </a:solidFill>
              </a:defRPr>
            </a:pPr>
            <a:r>
              <a:t>Правило выбора зафиксировано до расчёта; веса сторон не участвуют.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7D4F"/>
                </a:solidFill>
              </a:defRPr>
            </a:pPr>
            <a:r>
              <a:t>Вывод: S1 — минимальная цена защиты среди исполнимых в стрессе планов при CAPEX 540; ISRU — ворота 2037 года под горизонт 2041+.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B75"/>
                </a:solidFill>
              </a:defRPr>
            </a:pPr>
            <a:r>
              <a:t>results/comparison.xlsx, results/price_of_protection.xlsx. ✗ — подготовленный план неисполним.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2833"/>
                </a:solidFill>
              </a:defRPr>
            </a:pPr>
            <a:r>
              <a:t>Выбранный план: расписание, обязательства, инвестиционные ворота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822960"/>
                <a:gridCol w="822960"/>
                <a:gridCol w="1005840"/>
                <a:gridCol w="1188720"/>
                <a:gridCol w="1188720"/>
                <a:gridCol w="5577840"/>
              </a:tblGrid>
              <a:tr h="3200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2833"/>
                          </a:solidFill>
                        </a:defRPr>
                      </a:pPr>
                      <a:r>
                        <a:t>Год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2833"/>
                          </a:solidFill>
                        </a:defRPr>
                      </a:pPr>
                      <a:r>
                        <a:t>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2833"/>
                          </a:solidFill>
                        </a:defRPr>
                      </a:pPr>
                      <a:r>
                        <a:t>Flex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2833"/>
                          </a:solidFill>
                        </a:defRPr>
                      </a:pPr>
                      <a:r>
                        <a:t>Earth-New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2833"/>
                          </a:solidFill>
                        </a:defRPr>
                      </a:pPr>
                      <a:r>
                        <a:t>Запас на конец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2833"/>
                          </a:solidFill>
                        </a:defRPr>
                      </a:pPr>
                      <a:r>
                        <a:t>Расходы, млн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2833"/>
                          </a:solidFill>
                        </a:defRPr>
                      </a:pPr>
                      <a:r>
                        <a:t>Событие / ворота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2035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133,0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39,4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1 451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15.01 право Earth-New 90; 01.07 реализация 270 → ворота 1–2 по спросу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2036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133,0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30,8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1 172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01.01 ZBO 180, OPEX 12/год → ворота 3: готовность ZBO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2037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159,5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32,8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30,8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1 400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01.07 ввод Earth-New; до 31.12 решение об ISRU (ворота 4)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2038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190,0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71,8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39,5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1 894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стресс наблюдаем с января: Flex +122 д, Emergency +42 д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2039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190,0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12,6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130,0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48,1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2 426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проверка резерва 1 января</a:t>
                      </a: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2040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190,0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74,7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130,0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48,1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2 982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конечный запас = резерв 2040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93192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2833"/>
                </a:solidFill>
              </a:defRPr>
            </a:pPr>
            <a:r>
              <a:t>Заранее: резервы Core 190, Flex 110, Emergency 80 (страховка) на все годы; опцион и ZBO; отбор Core и Earth-New на год вперёд.</a:t>
            </a:r>
          </a:p>
          <a:p>
            <a:pPr>
              <a:spcAft>
                <a:spcPts val="400"/>
              </a:spcAft>
              <a:defRPr sz="1200">
                <a:solidFill>
                  <a:srgbClr val="1C2833"/>
                </a:solidFill>
              </a:defRPr>
            </a:pPr>
            <a:r>
              <a:t>После наблюдения: отбор Flex за 4 месяца, Emergency за 6 недель. Уже оплаченные минимумы take-or-pay не отменяются.</a:t>
            </a:r>
          </a:p>
          <a:p>
            <a:pPr>
              <a:spcAft>
                <a:spcPts val="400"/>
              </a:spcAft>
              <a:defRPr sz="1200">
                <a:solidFill>
                  <a:srgbClr val="1C2833"/>
                </a:solidFill>
              </a:defRPr>
            </a:pPr>
            <a:r>
              <a:t>Подготовительный период 2034: 44 дневных поставки Flex 18.11–31.12 на 12,98 т брутто (12,4 т нетто = 45 дней спроса 2035), расходы 118,1 млн в 2035.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7D4F"/>
                </a:solidFill>
              </a:defRPr>
            </a:pPr>
            <a:r>
              <a:t>Вывод: план = расписание плюс политика реакции с лагами; каждое обязательство привязано к дате и плательщику.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B75"/>
                </a:solidFill>
              </a:defRPr>
            </a:pPr>
            <a:r>
              <a:t>docs/roadmap.md (даты, платежи, ответственные, ворота), configs/contracts.json (карточки договоров), configs/plans/S1_new24*.json.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2833"/>
                </a:solidFill>
              </a:defRPr>
            </a:pPr>
            <a:r>
              <a:t>Обязательный стресс: без адаптации, подготовленный план и порог разрушения</a:t>
            </a:r>
          </a:p>
        </p:txBody>
      </p:sp>
      <p:pic>
        <p:nvPicPr>
          <p:cNvPr id="3" name="Picture 2" descr="st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035040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75120" y="11887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2833"/>
                </a:solidFill>
              </a:defRPr>
            </a:pPr>
            <a:r>
              <a:t>Без адаптации: первый дефицит 2039-01-19, за 2039–2040 недодано 95,9 т коммерческим потребителям, критический спрос 100 %.</a:t>
            </a:r>
          </a:p>
          <a:p>
            <a:pPr>
              <a:spcAft>
                <a:spcPts val="400"/>
              </a:spcAft>
              <a:defRPr sz="1200">
                <a:solidFill>
                  <a:srgbClr val="1C2833"/>
                </a:solidFill>
              </a:defRPr>
            </a:pPr>
            <a:r>
              <a:t>Подготовленный план: Earth-New 2038 111,0 т вместо 71,8, Flex 2039 86,5 т вместо 12,6, запас на 01.01.2040 79,0 т.</a:t>
            </a:r>
          </a:p>
          <a:p>
            <a:pPr>
              <a:spcAft>
                <a:spcPts val="400"/>
              </a:spcAft>
              <a:defRPr sz="1200">
                <a:solidFill>
                  <a:srgbClr val="1C2833"/>
                </a:solidFill>
              </a:defRPr>
            </a:pPr>
            <a:r>
              <a:t>Порог разрушения: план держит резерв ровно на пороге; физический дефицит при спросе выше ×1,035. Цены каналов до ×2,16 план не ломают.</a:t>
            </a:r>
          </a:p>
          <a:p>
            <a:pPr>
              <a:spcAft>
                <a:spcPts val="400"/>
              </a:spcAft>
              <a:defRPr sz="1200">
                <a:solidFill>
                  <a:srgbClr val="1C2833"/>
                </a:solidFill>
              </a:defRPr>
            </a:pPr>
            <a:r>
              <a:t>Тест команды: спрос ×1,25 (выше high) — дефицит 299 т без реакции, 2,2 т с реактивным Flex.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7D4F"/>
                </a:solidFill>
              </a:defRPr>
            </a:pPr>
            <a:r>
              <a:t>Вывод: стресс закрывается объёмами внутри уже зарезервированной мощности; бюджет и мощности не увеличены.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B75"/>
                </a:solidFill>
              </a:defRPr>
            </a:pPr>
            <a:r>
              <a:t>docs/stress_protocol.md T1–T4; results/reverse_stress_*.csv; results/sensitivity_*.csv.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2833"/>
                </a:solidFill>
              </a:defRPr>
            </a:pPr>
            <a:r>
              <a:t>Реестр рисков: последствие, мера, предел меры, остаточный риск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  <a:gridCol w="2377440"/>
                <a:gridCol w="1645920"/>
                <a:gridCol w="246888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2833"/>
                          </a:solidFill>
                        </a:defRPr>
                      </a:pPr>
                      <a:r>
                        <a:t>Риск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2833"/>
                          </a:solidFill>
                        </a:defRPr>
                      </a:pPr>
                      <a:r>
                        <a:t>Последствие без меры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2833"/>
                          </a:solidFill>
                        </a:defRPr>
                      </a:pPr>
                      <a:r>
                        <a:t>Мера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2833"/>
                          </a:solidFill>
                        </a:defRPr>
                      </a:pPr>
                      <a:r>
                        <a:t>Стоимость меры, млн PV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2833"/>
                          </a:solidFill>
                        </a:defRPr>
                      </a:pPr>
                      <a:r>
                        <a:t>Остаточный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Earth-New задержан до 2038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резерв 2038 нарушен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Flex 34 т, реакция за 4 мес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323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дефицит 0,0 т, Δ PV 46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Срыв партии Core 30 дн (2039)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резерв 2040 нарушен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Emergency 15,6 т за 6 нед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178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дефицит 0,0 т, Δ PV 166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Перерыв запусков 60 дн (2039)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дефицит 5,9 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запас +40 т Flex в 2038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337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дефицит 0,0 т, Δ PV 298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ZBO задержан на 30 мес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потери 4,5 %, резерв нарушен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Flex 2036–2038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дефицит 0,0 т, Δ PV 168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Спрос ×1,25 c 2038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дефицит 191,9 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реактивный Flex 2038–2040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1 367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дефицит 2,2 т, Δ PV 1 303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Спрос ×0,8, take-or-pay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переполнение, +200 млн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перепланирование до минимумов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-1 713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дефицит 0,0 т, Δ PV -1 514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Цена Earth-New ×1,35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+392 млн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объём сверх минимума на Flex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-38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дефицит 0,0 т, Δ PV 354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20624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C2833"/>
                </a:solidFill>
              </a:defRPr>
            </a:pPr>
            <a:r>
              <a:t>Предел мер: земная диверсификация не спасает от общего перерыва запусков (R3) — только запас; реакция после наблюдения не закрывает первые месяцы (R5); оплаченные минимумы take-or-pay не возвращаются (R6). Вероятности не назначаются: диапазоны кейса и сценарные допущения; обязательный стресс не считается повторно.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7D4F"/>
                </a:solidFill>
              </a:defRPr>
            </a:pPr>
            <a:r>
              <a:t>Вывод: каждый риск — исполняемый сценарий: событие → параметр → тонны и млн → мера вторым прогоном → остаток.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B75"/>
                </a:solidFill>
              </a:defRPr>
            </a:pPr>
            <a:r>
              <a:t>configs/risks/R1–R7.yaml; results/S1_new24__BASE/risk_register.csv (владелец, зависимости, основание диапазона, нарушения).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2833"/>
                </a:solidFill>
              </a:defRPr>
            </a:pPr>
            <a:r>
              <a:t>Стороны: кто получает топливо, кто платит, кто несёт риск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754880"/>
                <a:gridCol w="4114800"/>
              </a:tblGrid>
              <a:tr h="3200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2833"/>
                          </a:solidFill>
                        </a:defRPr>
                      </a:pPr>
                      <a:r>
                        <a:t>Сторона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2833"/>
                          </a:solidFill>
                        </a:defRPr>
                      </a:pPr>
                      <a:r>
                        <a:t>Показатель по плану 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2833"/>
                          </a:solidFill>
                        </a:defRPr>
                      </a:pPr>
                      <a:r>
                        <a:t>Что несёт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Оператор узла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0 нарушений; PV 9 293 млн; свободный Flex 110 т/год до 2038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резервы, take-or-pay, хранение, OPEX; цена защиты 1 614 млн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Критические потребители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SL критический 100 % во всех сценариях; резерв 45 дней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первыми получают топливо при дефиците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Коммерческие потребители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SL общий 100 % / 87 % без адаптации; тонна 8,15 → 8,75 млн/т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принимают дефицит в стрессе, оплачивают защиту через стоимость тонны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Поставщики топлива и запусков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платежи за резерв 917 млн за горизонт; take-or-pay Core 133 т/год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держат мощность; отвечают за сроки</a:t>
                      </a:r>
                    </a:p>
                  </a:txBody>
                  <a:tcPr/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Финансирующая сторона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CAPEX 540 из 1 800; ввод Earth-New 01.07.2037; 1 260 в запасе для ISRU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опцион и ZBO; риск задержки ввода (R1, R4)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11480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C2833"/>
                </a:solidFill>
              </a:defRPr>
            </a:pPr>
            <a:r>
              <a:t>Профили весов пяти сторон (PV / дефицит / CAPEX / гибкость) дают одно ранжирование: S1 (24 мес) первый при любом обоснованном профиле; S2 и S3 меняются местами по весу CAPEX. Веса — чувствительность, не правило выбора; требование к критическому сервису не взвешивается.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7D4F"/>
                </a:solidFill>
              </a:defRPr>
            </a:pPr>
            <a:r>
              <a:t>Вывод: при росте риска нагрузка смещается на коммерческих потребителей и оператора, при задержках ввода — на финансирующую сторону; это видно в числах, а не в весах.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B75"/>
                </a:solidFill>
              </a:defRPr>
            </a:pPr>
            <a:r>
              <a:t>results/stakeholders_*.csv, results/mcda_profiles.csv; Linkov et al. 2006 — веса от сторон и чувствительность к ним.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2833"/>
                </a:solidFill>
              </a:defRPr>
            </a:pPr>
            <a:r>
              <a:t>Геополитический модуль: событие → составляющая цены → пересчёт → до и после → откат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554480"/>
                <a:gridCol w="1463040"/>
                <a:gridCol w="1005840"/>
                <a:gridCol w="1005840"/>
                <a:gridCol w="329184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2833"/>
                          </a:solidFill>
                        </a:defRPr>
                      </a:pPr>
                      <a:r>
                        <a:t>Сценарий (исследовательский)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2833"/>
                          </a:solidFill>
                        </a:defRPr>
                      </a:pPr>
                      <a:r>
                        <a:t>Каналы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2833"/>
                          </a:solidFill>
                        </a:defRPr>
                      </a:pPr>
                      <a:r>
                        <a:t>Составляющая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2833"/>
                          </a:solidFill>
                        </a:defRPr>
                      </a:pPr>
                      <a:r>
                        <a:t>Годы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2833"/>
                          </a:solidFill>
                        </a:defRPr>
                      </a:pPr>
                      <a:r>
                        <a:t>Множитель 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2833"/>
                          </a:solidFill>
                        </a:defRPr>
                      </a:pPr>
                      <a:r>
                        <a:t>Основание диапазона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Ограничение доступа к запусковым услугам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Earth-New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запуск и доставка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2038–2039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1,10–1,35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доля 40–70 %, удорожание 25–50 %; механизм: ESA/ExoMars 2022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Конфликт на маршрутах предпусковой логистики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Core, Flex, Emergency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логистика и страхование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2039–2040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1,02–1,10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доля 2–5 %, ×2–3; механизм: UNCTAD 2024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Программа новых провайдеров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Flex, Earth-New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запуск и доставка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2038–2040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0,86–0,96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833"/>
                          </a:solidFill>
                        </a:defRPr>
                      </a:pPr>
                      <a:r>
                        <a:t>доля 40–70 %, −10–20 %; ESA Launcher Challenge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291840"/>
            <a:ext cx="11247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2833"/>
                </a:solidFill>
              </a:defRPr>
            </a:pPr>
            <a:r>
              <a:t>k = 1 + доля составляющей × (множитель составляющей − 1): структура цены в кейсе не задана, поэтому множитель применяется к агрегированной цене канала (допущение A12).</a:t>
            </a:r>
          </a:p>
          <a:p>
            <a:pPr>
              <a:spcAft>
                <a:spcPts val="400"/>
              </a:spcAft>
              <a:defRPr sz="1200">
                <a:solidFill>
                  <a:srgbClr val="1C2833"/>
                </a:solidFill>
              </a:defRPr>
            </a:pPr>
            <a:r>
              <a:t>Пример: Earth-New ×1,35 в 2038–2039 → +392 млн PV; мера — перенос объёма сверх минимума на Flex экономит 38 млн.</a:t>
            </a:r>
          </a:p>
          <a:p>
            <a:pPr>
              <a:spcAft>
                <a:spcPts val="400"/>
              </a:spcAft>
              <a:defRPr sz="1200">
                <a:solidFill>
                  <a:srgbClr val="1C2833"/>
                </a:solidFill>
              </a:defRPr>
            </a:pPr>
            <a:r>
              <a:t>Работает на копии сценария: контрольные BASE и стресс не меняются; кнопка «Вернуть контрольные цены»; параметры события уходят в meta выгрузки; сочетание со стрессом — явное перемножение.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7D4F"/>
                </a:solidFill>
              </a:defRPr>
            </a:pPr>
            <a:r>
              <a:t>Вывод: модуль показывает причинную цепочку и решения оператора, не выдумывая вероятность события.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B75"/>
                </a:solidFill>
              </a:defRPr>
            </a:pPr>
            <a:r>
              <a:t>configs/geo_events.json; страница «Геополитика». Исторические примеры подтверждают механизм, не величину будущего шока.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2833"/>
                </a:solidFill>
              </a:defRPr>
            </a:pPr>
            <a:r>
              <a:t>Проверяемость: тесты, независимый расчёт, карта жюри, границы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2833"/>
                </a:solidFill>
              </a:defRPr>
            </a:pPr>
            <a:r>
              <a:t>27 автотестов: V01–V10 организатора из файла, независимый контроль S1 (три источника чисел: ядро, внешний расчёт, Excel), граничные и невалидные планы, детерминизм по хэшу, интерфейс.</a:t>
            </a:r>
          </a:p>
          <a:p>
            <a:pPr>
              <a:spcAft>
                <a:spcPts val="400"/>
              </a:spcAft>
              <a:defRPr sz="1200">
                <a:solidFill>
                  <a:srgbClr val="1C2833"/>
                </a:solidFill>
              </a:defRPr>
            </a:pPr>
            <a:r>
              <a:t>Каждая выгрузка: сценарий, план, единицы, допущения, даты ввода, отпечаток входных данных, хэш чисел, версия кода.</a:t>
            </a:r>
          </a:p>
          <a:p>
            <a:pPr>
              <a:spcAft>
                <a:spcPts val="400"/>
              </a:spcAft>
              <a:defRPr sz="1200">
                <a:solidFill>
                  <a:srgbClr val="1C2833"/>
                </a:solidFill>
              </a:defRPr>
            </a:pPr>
            <a:r>
              <a:t>Записка, one-pager и эти слайды собраны из results/ скриптами: ни одного числа руками.</a:t>
            </a:r>
          </a:p>
          <a:p>
            <a:pPr>
              <a:spcAft>
                <a:spcPts val="400"/>
              </a:spcAft>
              <a:defRPr sz="1200">
                <a:solidFill>
                  <a:srgbClr val="1C2833"/>
                </a:solidFill>
              </a:defRPr>
            </a:pPr>
            <a:r>
              <a:t>Копии набора: Source-X (шестой канал подхвачен через данные), 2041 (S1 в стрессе даёт дефицит 26,6 т, S3 закрывает).</a:t>
            </a:r>
          </a:p>
          <a:p>
            <a:pPr>
              <a:spcAft>
                <a:spcPts val="400"/>
              </a:spcAft>
              <a:defRPr sz="1200">
                <a:solidFill>
                  <a:srgbClr val="1C2833"/>
                </a:solidFill>
              </a:defRPr>
            </a:pPr>
            <a:r>
              <a:t>Границы: агрегированный узел, равномерные дневные потоки, учебные коэффициенты, допущения A1–A14, без Монте-Карло, без выручки.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1887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F6B75"/>
                </a:solidFill>
              </a:defRPr>
            </a:pPr>
            <a:r>
              <a:t>Для вопросов жюри — где ответ:</a:t>
            </a:r>
          </a:p>
          <a:p>
            <a:pPr>
              <a:spcAft>
                <a:spcPts val="400"/>
              </a:spcAft>
              <a:defRPr sz="1100">
                <a:solidFill>
                  <a:srgbClr val="5F6B75"/>
                </a:solidFill>
              </a:defRPr>
            </a:pPr>
            <a:r>
              <a:t>почему физический резерв → docs/zapiska.md §4 (A3), 42 дня из 45</a:t>
            </a:r>
          </a:p>
          <a:p>
            <a:pPr>
              <a:spcAft>
                <a:spcPts val="400"/>
              </a:spcAft>
              <a:defRPr sz="1100">
                <a:solidFill>
                  <a:srgbClr val="5F6B75"/>
                </a:solidFill>
              </a:defRPr>
            </a:pPr>
            <a:r>
              <a:t>почему 24 месяца → §6, риск R1</a:t>
            </a:r>
          </a:p>
          <a:p>
            <a:pPr>
              <a:spcAft>
                <a:spcPts val="400"/>
              </a:spcAft>
              <a:defRPr sz="1100">
                <a:solidFill>
                  <a:srgbClr val="5F6B75"/>
                </a:solidFill>
              </a:defRPr>
            </a:pPr>
            <a:r>
              <a:t>ставка 7 % и что при 12 % → §8, sensitivity</a:t>
            </a:r>
          </a:p>
          <a:p>
            <a:pPr>
              <a:spcAft>
                <a:spcPts val="400"/>
              </a:spcAft>
              <a:defRPr sz="1100">
                <a:solidFill>
                  <a:srgbClr val="5F6B75"/>
                </a:solidFill>
              </a:defRPr>
            </a:pPr>
            <a:r>
              <a:t>как учтён 2034 → §4 (A8, A10), results/S1_new24__BASE/source_schedule.csv</a:t>
            </a:r>
          </a:p>
          <a:p>
            <a:pPr>
              <a:spcAft>
                <a:spcPts val="400"/>
              </a:spcAft>
              <a:defRPr sz="1100">
                <a:solidFill>
                  <a:srgbClr val="5F6B75"/>
                </a:solidFill>
              </a:defRPr>
            </a:pPr>
            <a:r>
              <a:t>где формула баланса → src/kosmo/engine.py, docs/architecture.md §2</a:t>
            </a:r>
          </a:p>
          <a:p>
            <a:pPr>
              <a:spcAft>
                <a:spcPts val="400"/>
              </a:spcAft>
              <a:defRPr sz="1100">
                <a:solidFill>
                  <a:srgbClr val="5F6B75"/>
                </a:solidFill>
              </a:defRPr>
            </a:pPr>
            <a:r>
              <a:t>что не умеет прототип → README «Границы прототипа»</a:t>
            </a:r>
          </a:p>
          <a:p>
            <a:pPr>
              <a:spcAft>
                <a:spcPts val="400"/>
              </a:spcAft>
              <a:defRPr sz="1100">
                <a:solidFill>
                  <a:srgbClr val="5F6B75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5F6B75"/>
                </a:solidFill>
              </a:defRPr>
            </a:pPr>
            <a:r>
              <a:t>Запуск: pip install -r requirements.txt; python -m pytest -q; python -m streamlit run app/streamlit_app.py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7D4F"/>
                </a:solidFill>
              </a:defRPr>
            </a:pPr>
            <a:r>
              <a:t>Вывод: любое число на экране можно довести до входа, формулы и файла за минуту.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B75"/>
                </a:solidFill>
              </a:defRPr>
            </a:pPr>
            <a:r>
              <a:t>Репозиторий: README с маршрутом проверки из 13 шагов и картой критериев; docs/, results/, tests/.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